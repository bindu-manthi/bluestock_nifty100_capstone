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F846F1-33C2-4739-A2B7-0176D685E67A}" v="4" dt="2026-06-25T06:20:08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58081-CCCC-042C-C925-6042E5937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4B2FE-B7EA-CC3E-CEDD-A6A660212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844BA-0DF6-46DD-6CE4-65851CEF3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919C-7B66-43FF-82F6-952F9F510D0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A10E8-BE39-BD69-646A-A71A60050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42BAB-FEA5-28AA-A24E-DA15EE24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C9A0-EE07-41B1-9118-0AB065C68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14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C7FB-027F-E60F-5F7F-376A940A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10F33-C578-5EDF-ABDA-3DB177501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9EB1B-E698-20C7-3D70-FB6632C82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919C-7B66-43FF-82F6-952F9F510D0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70294-BEE2-A5FC-A11C-207B2326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4415E-5055-E6AC-1486-7E775DC0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C9A0-EE07-41B1-9118-0AB065C68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72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08D6-9411-7902-93B3-62CBD933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47CF1-F7F9-DFB4-37D1-0236729DE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C3C6B-CDFD-FA31-FFCA-E8682453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919C-7B66-43FF-82F6-952F9F510D0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B7C91-8D69-E020-12D6-D553A5D65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7CD28-243C-68B3-485F-B5BF1F4A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C9A0-EE07-41B1-9118-0AB065C68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95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D9EA-ECAE-CE19-2726-A64DB2F9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C56EB-865A-A89E-F3FA-7E49C3AC8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D00D2-7C88-8C5A-48A3-D7FAF5A8E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88201-72EC-829F-03A1-C52EBBDDB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919C-7B66-43FF-82F6-952F9F510D0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0B946-8743-000C-2255-A1003621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EED1D-63F1-8D5F-FE44-87C4726B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C9A0-EE07-41B1-9118-0AB065C68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51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7473-03CC-E885-CA1B-91373B29A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6338E-6096-CB1A-88B0-232ECA982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65FA8-0757-9750-3B4D-C1D86FD43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8DA28E-5F11-F383-0532-AD9B77730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94A93-05B6-2B7F-F4E5-151FB1277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80C487-5F90-F347-7E91-DAF36758D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919C-7B66-43FF-82F6-952F9F510D0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AEE6CE-AE2E-F8ED-51BC-CDF495E2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CD8B0-2C3A-C18F-C2CE-447BC213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C9A0-EE07-41B1-9118-0AB065C68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85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7A70-1C44-D25B-3AA0-43E2FCCD0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12744-05FC-A59F-FF63-B0A95615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919C-7B66-43FF-82F6-952F9F510D0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B4861-8E0F-A893-3811-0B5F0973E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CDAED-EA7B-6E8D-43C5-16382DDE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C9A0-EE07-41B1-9118-0AB065C68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59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46A45-8996-3F16-AB5A-C92E0F145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919C-7B66-43FF-82F6-952F9F510D0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59C38-2D3B-2F92-B791-FCAAFAC6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F23B4-4AD1-D40B-BCEC-3534D4EFB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C9A0-EE07-41B1-9118-0AB065C68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060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5F9-04EB-4347-BAFF-89B64BE5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C4F12-6061-C211-2313-4EECD1FA2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8D96F-ABD0-BB8F-22C4-B711A5DE7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2EBD3-F7B5-5CC0-475D-3364872A5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919C-7B66-43FF-82F6-952F9F510D0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3D23C-644E-EF2E-3B65-EA8BFFC1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D09ED-A309-F4DE-A2D7-FE0E3BA7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C9A0-EE07-41B1-9118-0AB065C68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541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19813-1EA2-C21E-F640-6E9521DC8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3B72CA-8FE4-032E-B208-508185F05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32473-6138-8675-FFD1-7E4B88EB3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E8540-64AA-6D1E-8234-AB2FBF39F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919C-7B66-43FF-82F6-952F9F510D0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27213-3CFD-06BA-1437-F30512394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6965E-E55E-2E26-3AAA-FBC9F92F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C9A0-EE07-41B1-9118-0AB065C68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72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EAD8-F95C-02C5-9569-D82A99BA3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AC84E-2ADE-83F2-80E0-71CC7D85E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9E47-6FBC-5151-1ED1-592BB4829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919C-7B66-43FF-82F6-952F9F510D0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D7B8-9989-903A-A429-1C886698E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849C4-839D-A276-0C37-E139758A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C9A0-EE07-41B1-9118-0AB065C68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61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EB0099-0E0D-7DC1-E287-72F5D8E7D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A9656-4B8A-4F08-364A-3B0B212F4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D83A3-C5C7-5280-D843-ECE35D056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919C-7B66-43FF-82F6-952F9F510D0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5A9D4-EE88-56F4-2F14-5BA1BABD0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9732B-CDF1-68B2-6BFA-67C0B438C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C9A0-EE07-41B1-9118-0AB065C68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03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A44CB4-C99A-F889-458C-89EE935CD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CE8D9-407C-739B-4A07-C05E53A9C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1585D-D776-34F6-AD12-97CCE5D97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1919C-7B66-43FF-82F6-952F9F510D01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9A550-0443-F21F-BC20-D915D6E48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60F21-A20E-156F-1A1D-0EE55BDAC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3C9A0-EE07-41B1-9118-0AB065C68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99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44562-C997-8848-0F5E-79ADA1F33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1716" y="540775"/>
            <a:ext cx="10068232" cy="1465006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NIFTY100 FINANCIAL INTELLIGENCE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2289B-F28E-B55C-6E1D-5CFB0A5A3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1715" y="2349909"/>
            <a:ext cx="10176387" cy="3967315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1 – Data Foundation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Bindu Madhavi Manthi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Internship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260418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DE6E-5EF7-3ACB-3A5B-5D933744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D0312-7162-FAB1-43FA-B9819DF82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robust data foundation for Nifty100 analytics.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ETL pipeline for financial datasets.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validated SQLite database.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quality validation and testing.</a:t>
            </a:r>
          </a:p>
        </p:txBody>
      </p:sp>
    </p:spTree>
    <p:extLst>
      <p:ext uri="{BB962C8B-B14F-4D97-AF65-F5344CB8AC3E}">
        <p14:creationId xmlns:p14="http://schemas.microsoft.com/office/powerpoint/2010/main" val="398075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6BBA9-DFE2-221F-C838-1D3902276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598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3517E6-3C66-21DD-1F9C-B46E24E597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8452036"/>
              </p:ext>
            </p:extLst>
          </p:nvPr>
        </p:nvGraphicFramePr>
        <p:xfrm>
          <a:off x="838197" y="1012724"/>
          <a:ext cx="10515602" cy="2684204"/>
        </p:xfrm>
        <a:graphic>
          <a:graphicData uri="http://schemas.openxmlformats.org/drawingml/2006/table">
            <a:tbl>
              <a:tblPr/>
              <a:tblGrid>
                <a:gridCol w="5965726">
                  <a:extLst>
                    <a:ext uri="{9D8B030D-6E8A-4147-A177-3AD203B41FA5}">
                      <a16:colId xmlns:a16="http://schemas.microsoft.com/office/drawing/2014/main" val="905406018"/>
                    </a:ext>
                  </a:extLst>
                </a:gridCol>
                <a:gridCol w="4549876">
                  <a:extLst>
                    <a:ext uri="{9D8B030D-6E8A-4147-A177-3AD203B41FA5}">
                      <a16:colId xmlns:a16="http://schemas.microsoft.com/office/drawing/2014/main" val="2435265533"/>
                    </a:ext>
                  </a:extLst>
                </a:gridCol>
              </a:tblGrid>
              <a:tr h="67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Company Data</a:t>
                      </a:r>
                    </a:p>
                  </a:txBody>
                  <a:tcPr marL="89576" marR="89576" marT="44788" marB="447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Data</a:t>
                      </a:r>
                    </a:p>
                  </a:txBody>
                  <a:tcPr marL="89576" marR="89576" marT="44788" marB="447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34548"/>
                  </a:ext>
                </a:extLst>
              </a:tr>
              <a:tr h="67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Companies</a:t>
                      </a:r>
                    </a:p>
                  </a:txBody>
                  <a:tcPr marL="89576" marR="89576" marT="44788" marB="447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 &amp; Loss</a:t>
                      </a:r>
                    </a:p>
                  </a:txBody>
                  <a:tcPr marL="89576" marR="89576" marT="44788" marB="447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079830"/>
                  </a:ext>
                </a:extLst>
              </a:tr>
              <a:tr h="67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Documents</a:t>
                      </a:r>
                    </a:p>
                  </a:txBody>
                  <a:tcPr marL="89576" marR="89576" marT="44788" marB="447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 Sheet</a:t>
                      </a:r>
                    </a:p>
                  </a:txBody>
                  <a:tcPr marL="89576" marR="89576" marT="44788" marB="447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867647"/>
                  </a:ext>
                </a:extLst>
              </a:tr>
              <a:tr h="67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 &amp; Cons</a:t>
                      </a:r>
                    </a:p>
                  </a:txBody>
                  <a:tcPr marL="89576" marR="89576" marT="44788" marB="447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Cash Flow</a:t>
                      </a:r>
                    </a:p>
                  </a:txBody>
                  <a:tcPr marL="89576" marR="89576" marT="44788" marB="447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55758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CE04B1-F116-0F7D-8EA1-08D92FD3F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416188"/>
              </p:ext>
            </p:extLst>
          </p:nvPr>
        </p:nvGraphicFramePr>
        <p:xfrm>
          <a:off x="838197" y="3795252"/>
          <a:ext cx="10515604" cy="2477728"/>
        </p:xfrm>
        <a:graphic>
          <a:graphicData uri="http://schemas.openxmlformats.org/drawingml/2006/table">
            <a:tbl>
              <a:tblPr/>
              <a:tblGrid>
                <a:gridCol w="5990796">
                  <a:extLst>
                    <a:ext uri="{9D8B030D-6E8A-4147-A177-3AD203B41FA5}">
                      <a16:colId xmlns:a16="http://schemas.microsoft.com/office/drawing/2014/main" val="2318770665"/>
                    </a:ext>
                  </a:extLst>
                </a:gridCol>
                <a:gridCol w="4524808">
                  <a:extLst>
                    <a:ext uri="{9D8B030D-6E8A-4147-A177-3AD203B41FA5}">
                      <a16:colId xmlns:a16="http://schemas.microsoft.com/office/drawing/2014/main" val="104674341"/>
                    </a:ext>
                  </a:extLst>
                </a:gridCol>
              </a:tblGrid>
              <a:tr h="619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791696"/>
                  </a:ext>
                </a:extLst>
              </a:tr>
              <a:tr h="619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Stock Prices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783623"/>
                  </a:ext>
                </a:extLst>
              </a:tr>
              <a:tr h="619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Ratios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637645"/>
                  </a:ext>
                </a:extLst>
              </a:tr>
              <a:tr h="619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Peer Groups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93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479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FD31C-AAD8-7857-847C-D466A72ED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099946-3204-7091-2153-ADBFB9D75D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1411545"/>
              </p:ext>
            </p:extLst>
          </p:nvPr>
        </p:nvGraphicFramePr>
        <p:xfrm>
          <a:off x="1160206" y="1455174"/>
          <a:ext cx="10193594" cy="4630997"/>
        </p:xfrm>
        <a:graphic>
          <a:graphicData uri="http://schemas.openxmlformats.org/drawingml/2006/table">
            <a:tbl>
              <a:tblPr/>
              <a:tblGrid>
                <a:gridCol w="5092926">
                  <a:extLst>
                    <a:ext uri="{9D8B030D-6E8A-4147-A177-3AD203B41FA5}">
                      <a16:colId xmlns:a16="http://schemas.microsoft.com/office/drawing/2014/main" val="895474623"/>
                    </a:ext>
                  </a:extLst>
                </a:gridCol>
                <a:gridCol w="5100668">
                  <a:extLst>
                    <a:ext uri="{9D8B030D-6E8A-4147-A177-3AD203B41FA5}">
                      <a16:colId xmlns:a16="http://schemas.microsoft.com/office/drawing/2014/main" val="618325808"/>
                    </a:ext>
                  </a:extLst>
                </a:gridCol>
              </a:tblGrid>
              <a:tr h="661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29345"/>
                  </a:ext>
                </a:extLst>
              </a:tr>
              <a:tr h="661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460903"/>
                  </a:ext>
                </a:extLst>
              </a:tr>
              <a:tr h="661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003633"/>
                  </a:ext>
                </a:extLst>
              </a:tr>
              <a:tr h="661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661467"/>
                  </a:ext>
                </a:extLst>
              </a:tr>
              <a:tr h="661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909434"/>
                  </a:ext>
                </a:extLst>
              </a:tr>
              <a:tr h="661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Git, GitHub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169290"/>
                  </a:ext>
                </a:extLst>
              </a:tr>
              <a:tr h="661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534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77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AD96B-EE46-DE4B-3C5B-48FA5F07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C300F-3957-03F0-219D-E4C009DF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5158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Excel Files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&amp; Audit Files</a:t>
            </a:r>
          </a:p>
        </p:txBody>
      </p:sp>
    </p:spTree>
    <p:extLst>
      <p:ext uri="{BB962C8B-B14F-4D97-AF65-F5344CB8AC3E}">
        <p14:creationId xmlns:p14="http://schemas.microsoft.com/office/powerpoint/2010/main" val="186377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4436-63DD-E2FB-5944-C51854E7F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8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D25E3-DDE2-7E82-7025-2247BA8C4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716" y="1258529"/>
            <a:ext cx="10282084" cy="53192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</a:t>
            </a:r>
          </a:p>
          <a:p>
            <a:pPr marL="0" indent="0"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companies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profitandloss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balancesheet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cashflow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prosandcons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financial_ratios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peer_groups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sectors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stock_prices</a:t>
            </a:r>
          </a:p>
        </p:txBody>
      </p:sp>
    </p:spTree>
    <p:extLst>
      <p:ext uri="{BB962C8B-B14F-4D97-AF65-F5344CB8AC3E}">
        <p14:creationId xmlns:p14="http://schemas.microsoft.com/office/powerpoint/2010/main" val="3611892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C7BD7-1B9F-3BB2-A719-BA7284584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2565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26C02-0F4C-198B-16E3-C0C9ABD87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690"/>
            <a:ext cx="10515600" cy="4869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 Checks Implemented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DQ-01 Primary Key Validation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DQ-02 Company-Year Validation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DQ-03 Foreign Key Validation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DQ-04 Null Value Analysis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DQ-05 Negative Value Analysis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DQ-06 Data Type Validation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DQ-07 Range Validation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DQ-08 Date Validation</a:t>
            </a:r>
          </a:p>
        </p:txBody>
      </p:sp>
    </p:spTree>
    <p:extLst>
      <p:ext uri="{BB962C8B-B14F-4D97-AF65-F5344CB8AC3E}">
        <p14:creationId xmlns:p14="http://schemas.microsoft.com/office/powerpoint/2010/main" val="3745641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C7770-D831-F8F1-15E2-E9AA657D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Loading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8F7EB2-7D71-FDB0-CE7D-819BDA711B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7290834"/>
              </p:ext>
            </p:extLst>
          </p:nvPr>
        </p:nvGraphicFramePr>
        <p:xfrm>
          <a:off x="973393" y="1248697"/>
          <a:ext cx="10609007" cy="4389120"/>
        </p:xfrm>
        <a:graphic>
          <a:graphicData uri="http://schemas.openxmlformats.org/drawingml/2006/table">
            <a:tbl>
              <a:tblPr/>
              <a:tblGrid>
                <a:gridCol w="6390968">
                  <a:extLst>
                    <a:ext uri="{9D8B030D-6E8A-4147-A177-3AD203B41FA5}">
                      <a16:colId xmlns:a16="http://schemas.microsoft.com/office/drawing/2014/main" val="1276165032"/>
                    </a:ext>
                  </a:extLst>
                </a:gridCol>
                <a:gridCol w="4218039">
                  <a:extLst>
                    <a:ext uri="{9D8B030D-6E8A-4147-A177-3AD203B41FA5}">
                      <a16:colId xmlns:a16="http://schemas.microsoft.com/office/drawing/2014/main" val="2765711830"/>
                    </a:ext>
                  </a:extLst>
                </a:gridCol>
              </a:tblGrid>
              <a:tr h="543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778417"/>
                  </a:ext>
                </a:extLst>
              </a:tr>
              <a:tr h="543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companies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686916"/>
                  </a:ext>
                </a:extLst>
              </a:tr>
              <a:tr h="543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profitandloss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085906"/>
                  </a:ext>
                </a:extLst>
              </a:tr>
              <a:tr h="543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balancesheet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673548"/>
                  </a:ext>
                </a:extLst>
              </a:tr>
              <a:tr h="543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cashflow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687215"/>
                  </a:ext>
                </a:extLst>
              </a:tr>
              <a:tr h="543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402907"/>
                  </a:ext>
                </a:extLst>
              </a:tr>
              <a:tr h="543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513536"/>
                  </a:ext>
                </a:extLst>
              </a:tr>
              <a:tr h="543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stock_prices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913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FC9E4FC-F0D9-AD3E-BA4E-B4F8FA6F818D}"/>
              </a:ext>
            </a:extLst>
          </p:cNvPr>
          <p:cNvSpPr txBox="1"/>
          <p:nvPr/>
        </p:nvSpPr>
        <p:spPr>
          <a:xfrm>
            <a:off x="973393" y="5969480"/>
            <a:ext cx="10176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datasets were successfully loaded into the SQLite database without data loss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8637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9AA2-D3CA-FE38-1FA6-1D6483A57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&amp; Evidence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698458C5-1498-1E95-480E-5F35E156B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379" y="1366838"/>
            <a:ext cx="9112954" cy="39032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97D4EE3-332F-ADCD-0273-FD8D8D916002}"/>
              </a:ext>
            </a:extLst>
          </p:cNvPr>
          <p:cNvSpPr txBox="1"/>
          <p:nvPr/>
        </p:nvSpPr>
        <p:spPr>
          <a:xfrm>
            <a:off x="3932903" y="5633884"/>
            <a:ext cx="4601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Successful execution of unit tests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082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9E2D7-A001-84F9-8231-CD172657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92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Validation &amp; Evidence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E1B518-0D76-79DB-CA8B-060BEB770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493" y="1270985"/>
            <a:ext cx="7672940" cy="43160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183018-C6F4-7936-6DC8-8003A830DF64}"/>
              </a:ext>
            </a:extLst>
          </p:cNvPr>
          <p:cNvSpPr txBox="1"/>
          <p:nvPr/>
        </p:nvSpPr>
        <p:spPr>
          <a:xfrm>
            <a:off x="3333136" y="58465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GitHub repository with project source code and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4162256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4074-5117-8563-013D-DF3B1021B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6F803-C794-9A29-8047-0D8F01DBD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1288026"/>
            <a:ext cx="10390239" cy="4888937"/>
          </a:xfrm>
        </p:spPr>
        <p:txBody>
          <a:bodyPr>
            <a:no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1 Completed Successfully</a:t>
            </a:r>
          </a:p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Achievements: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ETL Pipeline Developed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SQLite Database Created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Data Quality Checks Completed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Validation Reports Generated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Project Documentation Completed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Future Analytics Modules</a:t>
            </a:r>
          </a:p>
          <a:p>
            <a:pPr marL="0" indent="0" algn="ctr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Status: Sprint 1 Completed Successfully ✅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47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304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NIFTY100 FINANCIAL INTELLIGENCE PLATFORM</vt:lpstr>
      <vt:lpstr>Project Overview</vt:lpstr>
      <vt:lpstr>Data Sources</vt:lpstr>
      <vt:lpstr>Technology Stack</vt:lpstr>
      <vt:lpstr>ETL Architecture</vt:lpstr>
      <vt:lpstr>Database Design</vt:lpstr>
      <vt:lpstr>Data Quality Framework</vt:lpstr>
      <vt:lpstr>Database Loading Results</vt:lpstr>
      <vt:lpstr>Project Validation &amp; Evidence</vt:lpstr>
      <vt:lpstr>Project Validation &amp; Evidence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BINDU MANTHI</dc:creator>
  <cp:lastModifiedBy>BINDU MANTHI</cp:lastModifiedBy>
  <cp:revision>2</cp:revision>
  <dcterms:created xsi:type="dcterms:W3CDTF">2026-06-25T05:26:43Z</dcterms:created>
  <dcterms:modified xsi:type="dcterms:W3CDTF">2026-06-25T06:28:14Z</dcterms:modified>
</cp:coreProperties>
</file>